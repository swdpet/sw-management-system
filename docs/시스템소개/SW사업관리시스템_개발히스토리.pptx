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319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630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FD8EC"/>
                </a:solidFill>
                <a:latin typeface="Malgun Gothic"/>
              </a:rPr>
              <a:t>SW PROJECT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74519"/>
            <a:ext cx="10515600" cy="16459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Malgun Gothic"/>
              </a:rPr>
              <a:t>SW 사업관리 시스템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Malgun Gothic"/>
              </a:rPr>
              <a:t>개발 히스토리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E6EEF2"/>
                </a:solidFill>
                <a:latin typeface="Malgun Gothic"/>
              </a:rPr>
              <a:t>처음 한 줄부터 지금까지 — 3개월의 기록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2103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335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16636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FD8EC"/>
                </a:solidFill>
                <a:latin typeface="Malgun Gothic"/>
              </a:rPr>
              <a:t>작업 기록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4434840"/>
            <a:ext cx="2103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41일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516636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FD8EC"/>
                </a:solidFill>
                <a:latin typeface="Malgun Gothic"/>
              </a:rPr>
              <a:t>작업한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4434840"/>
            <a:ext cx="2103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≈181h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516636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FD8EC"/>
                </a:solidFill>
                <a:latin typeface="Malgun Gothic"/>
              </a:rPr>
              <a:t>추정 작업시간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434840"/>
            <a:ext cx="210312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algun Gothic"/>
              </a:rPr>
              <a:t>4단계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5166360"/>
            <a:ext cx="21031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FD8EC"/>
                </a:solidFill>
                <a:latin typeface="Malgun Gothic"/>
              </a:rPr>
              <a:t>성장 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2636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3DCE6"/>
                </a:solidFill>
                <a:latin typeface="Malgun Gothic"/>
              </a:rPr>
              <a:t>2026-04-03 ~ 2026-06-17  ·  박욱진(SW지원부)  · 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C8A"/>
                </a:solidFill>
                <a:latin typeface="Malgun Gothic"/>
              </a:rPr>
              <a:t>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686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3192"/>
                </a:solidFill>
                <a:latin typeface="Malgun Gothic"/>
              </a:rPr>
              <a:t>한 화면에서 보는 우리 부서의 “관제탑”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B8794"/>
                </a:solidFill>
                <a:latin typeface="Malgun Gothic"/>
              </a:rPr>
              <a:t>흩어져 있던 사업·서류·점검·장애 대응을 하나의 웹 시스템으로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2542032" cy="150876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386584"/>
            <a:ext cx="217627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F2933"/>
                </a:solidFill>
                <a:latin typeface="Malgun Gothic"/>
              </a:rPr>
              <a:t>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89864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5B66"/>
                </a:solidFill>
                <a:latin typeface="Malgun Gothic"/>
              </a:rPr>
              <a:t>대시보드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246120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B8794"/>
                </a:solidFill>
                <a:latin typeface="Malgun Gothic"/>
              </a:rPr>
              <a:t>사업 현황·금액 요약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5304" y="2240280"/>
            <a:ext cx="2542032" cy="150876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2386584"/>
            <a:ext cx="217627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F2933"/>
                </a:solidFill>
                <a:latin typeface="Malgun Gothic"/>
              </a:rPr>
              <a:t>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89864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5B66"/>
                </a:solidFill>
                <a:latin typeface="Malgun Gothic"/>
              </a:rPr>
              <a:t>사업 관리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3246120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B8794"/>
                </a:solidFill>
                <a:latin typeface="Malgun Gothic"/>
              </a:rPr>
              <a:t>등록·검색·단계 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1928" y="2240280"/>
            <a:ext cx="2542032" cy="150876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86584"/>
            <a:ext cx="217627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F2933"/>
                </a:solidFill>
                <a:latin typeface="Malgun Gothic"/>
              </a:rPr>
              <a:t>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89864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5B66"/>
                </a:solidFill>
                <a:latin typeface="Malgun Gothic"/>
              </a:rPr>
              <a:t>문서 자동화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246120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B8794"/>
                </a:solidFill>
                <a:latin typeface="Malgun Gothic"/>
              </a:rPr>
              <a:t>착수·기성·준공계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1" y="2240280"/>
            <a:ext cx="2542032" cy="150876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2386584"/>
            <a:ext cx="217627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F2933"/>
                </a:solidFill>
                <a:latin typeface="Malgun Gothic"/>
              </a:rPr>
              <a:t>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89864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5B66"/>
                </a:solidFill>
                <a:latin typeface="Malgun Gothic"/>
              </a:rPr>
              <a:t>점검내역서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3246120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B8794"/>
                </a:solidFill>
                <a:latin typeface="Malgun Gothic"/>
              </a:rPr>
              <a:t>현장 점검→PDF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950208"/>
            <a:ext cx="2542032" cy="150876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4096512"/>
            <a:ext cx="217627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F2933"/>
                </a:solidFill>
                <a:latin typeface="Malgun Gothic"/>
              </a:rP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608576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5B66"/>
                </a:solidFill>
                <a:latin typeface="Malgun Gothic"/>
              </a:rPr>
              <a:t>견적서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495604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B8794"/>
                </a:solidFill>
                <a:latin typeface="Malgun Gothic"/>
              </a:rPr>
              <a:t>인건비 자동 계산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75304" y="3950208"/>
            <a:ext cx="2542032" cy="150876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6472" y="4096512"/>
            <a:ext cx="217627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F2933"/>
                </a:solidFill>
                <a:latin typeface="Malgun Gothic"/>
              </a:rPr>
              <a:t>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608576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5B66"/>
                </a:solidFill>
                <a:latin typeface="Malgun Gothic"/>
              </a:rPr>
              <a:t>장애·업무지원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6472" y="495604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B8794"/>
                </a:solidFill>
                <a:latin typeface="Malgun Gothic"/>
              </a:rPr>
              <a:t>대응 내역 기록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1928" y="3950208"/>
            <a:ext cx="2542032" cy="150876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83096" y="4096512"/>
            <a:ext cx="217627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F2933"/>
                </a:solidFill>
                <a:latin typeface="Malgun Gothic"/>
              </a:rPr>
              <a:t>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3096" y="4608576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5B66"/>
                </a:solidFill>
                <a:latin typeface="Malgun Gothic"/>
              </a:rPr>
              <a:t>인프라 자산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495604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B8794"/>
                </a:solidFill>
                <a:latin typeface="Malgun Gothic"/>
              </a:rPr>
              <a:t>서버·장비 관리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88551" y="3950208"/>
            <a:ext cx="2542032" cy="150876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19" y="4096512"/>
            <a:ext cx="2176272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1F2933"/>
                </a:solidFill>
                <a:latin typeface="Malgun Gothic"/>
              </a:rPr>
              <a:t>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19" y="4608576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A5B66"/>
                </a:solidFill>
                <a:latin typeface="Malgun Gothic"/>
              </a:rPr>
              <a:t>권한·로그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4956048"/>
            <a:ext cx="2176272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B8794"/>
                </a:solidFill>
                <a:latin typeface="Malgun Gothic"/>
              </a:rPr>
              <a:t>승인·기록·통계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644652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B8794"/>
                </a:solidFill>
                <a:latin typeface="Malgun Gothic"/>
              </a:rPr>
              <a:t>SYSTEM INTRO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B8794"/>
                </a:solidFill>
                <a:latin typeface="Malgun Gothi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C8A"/>
                </a:solidFill>
                <a:latin typeface="Malgun Gothic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686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3192"/>
                </a:solidFill>
                <a:latin typeface="Malgun Gothic"/>
              </a:rPr>
              <a:t>숫자로 보는 3개월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B8794"/>
                </a:solidFill>
                <a:latin typeface="Malgun Gothic"/>
              </a:rPr>
              <a:t>2026년 4월 3일 첫 저장 → 6월 17일까지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2615184" cy="2148840"/>
          </a:xfrm>
          <a:prstGeom prst="roundRect">
            <a:avLst/>
          </a:prstGeom>
          <a:gradFill>
            <a:gsLst>
              <a:gs pos="0">
                <a:srgbClr val="2E3192"/>
              </a:gs>
              <a:gs pos="100000">
                <a:srgbClr val="0A5B66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2606039"/>
            <a:ext cx="21579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algun Gothic"/>
              </a:rPr>
              <a:t>335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" y="3566160"/>
            <a:ext cx="215798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작업 기록(커밋)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" y="3959352"/>
            <a:ext cx="2157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EF2"/>
                </a:solidFill>
                <a:latin typeface="Malgun Gothic"/>
              </a:rPr>
              <a:t>= 작업 일지 한 칸씩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5032" y="2331720"/>
            <a:ext cx="2615184" cy="2148840"/>
          </a:xfrm>
          <a:prstGeom prst="roundRect">
            <a:avLst/>
          </a:prstGeom>
          <a:gradFill>
            <a:gsLst>
              <a:gs pos="0">
                <a:srgbClr val="0A5B66"/>
              </a:gs>
              <a:gs pos="100000">
                <a:srgbClr val="0F7C8A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41064" y="2606039"/>
            <a:ext cx="21579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algun Gothic"/>
              </a:rPr>
              <a:t>41일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41064" y="3566160"/>
            <a:ext cx="215798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실제 작업한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1064" y="3959352"/>
            <a:ext cx="2157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EF2"/>
                </a:solidFill>
                <a:latin typeface="Malgun Gothic"/>
              </a:rPr>
              <a:t>전체 76일 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01384" y="2331720"/>
            <a:ext cx="2615184" cy="2148840"/>
          </a:xfrm>
          <a:prstGeom prst="roundRect">
            <a:avLst/>
          </a:prstGeom>
          <a:gradFill>
            <a:gsLst>
              <a:gs pos="0">
                <a:srgbClr val="0F7C8A"/>
              </a:gs>
              <a:gs pos="100000">
                <a:srgbClr val="1A9AAA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2606039"/>
            <a:ext cx="21579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algun Gothic"/>
              </a:rPr>
              <a:t>181h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3566160"/>
            <a:ext cx="215798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추정 작업시간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6" y="3959352"/>
            <a:ext cx="2157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EF2"/>
                </a:solidFill>
                <a:latin typeface="Malgun Gothic"/>
              </a:rPr>
              <a:t>하루 평균 4.4h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7736" y="2331720"/>
            <a:ext cx="2615184" cy="2148840"/>
          </a:xfrm>
          <a:prstGeom prst="roundRect">
            <a:avLst/>
          </a:prstGeom>
          <a:gradFill>
            <a:gsLst>
              <a:gs pos="0">
                <a:srgbClr val="58AA47"/>
              </a:gs>
              <a:gs pos="100000">
                <a:srgbClr val="0F7C8A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73767" y="2606039"/>
            <a:ext cx="2157984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Malgun Gothic"/>
              </a:rPr>
              <a:t>70+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7" y="3566160"/>
            <a:ext cx="2157984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algun Gothic"/>
              </a:rPr>
              <a:t>화면(페이지)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73767" y="3959352"/>
            <a:ext cx="2157984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EF2"/>
                </a:solidFill>
                <a:latin typeface="Malgun Gothic"/>
              </a:rPr>
              <a:t>처리 모듈 20+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5029200"/>
            <a:ext cx="10442448" cy="868680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138928"/>
            <a:ext cx="9966960" cy="6858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F2933"/>
                </a:solidFill>
                <a:latin typeface="Malgun Gothic"/>
              </a:rPr>
              <a:t>💡  화면 수에 비해 </a:t>
            </a:r>
            <a:r>
              <a:rPr sz="1500" b="1">
                <a:solidFill>
                  <a:srgbClr val="0A5B66"/>
                </a:solidFill>
                <a:latin typeface="Malgun Gothic"/>
              </a:rPr>
              <a:t>보안 점검·데이터 정리·문서화</a:t>
            </a:r>
            <a:r>
              <a:rPr sz="1500" b="0">
                <a:solidFill>
                  <a:srgbClr val="1F2933"/>
                </a:solidFill>
                <a:latin typeface="Malgun Gothic"/>
              </a:rPr>
              <a:t>에 들인 비중이 큽니다 — “빠르게”보다 “틀리지 않게”에 무게.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644652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B8794"/>
                </a:solidFill>
                <a:latin typeface="Malgun Gothic"/>
              </a:rPr>
              <a:t>SYSTEM INTRO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B8794"/>
                </a:solidFill>
                <a:latin typeface="Malgun Gothi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C8A"/>
                </a:solidFill>
                <a:latin typeface="Malgun Gothic"/>
              </a:rPr>
              <a:t>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686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3192"/>
                </a:solidFill>
                <a:latin typeface="Malgun Gothic"/>
              </a:rPr>
              <a:t>시스템이 자라온 4단계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11680"/>
            <a:ext cx="1051560" cy="384048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48256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A5B66"/>
                </a:solidFill>
                <a:latin typeface="Malgun Gothic"/>
              </a:rPr>
              <a:t>1단계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5420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B8794"/>
                </a:solidFill>
                <a:latin typeface="Malgun Gothic"/>
              </a:rPr>
              <a:t>4월 초·중순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2542032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3192"/>
                </a:solidFill>
                <a:latin typeface="Malgun Gothic"/>
              </a:rPr>
              <a:t>기능을 빠르게 채우다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86200"/>
            <a:ext cx="2542032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36E"/>
                </a:solidFill>
                <a:latin typeface="Malgun Gothic"/>
              </a:rPr>
              <a:t>문서·견적·점검내역서 확장, 태블릿 대응, 팀 모니터링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2423" y="269748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7C8A"/>
                </a:solidFill>
                <a:latin typeface="Malgun Gothic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5304" y="2011680"/>
            <a:ext cx="1051560" cy="384048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2048256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A5B66"/>
                </a:solidFill>
                <a:latin typeface="Malgun Gothic"/>
              </a:rPr>
              <a:t>2단계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514600"/>
            <a:ext cx="25420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B8794"/>
                </a:solidFill>
                <a:latin typeface="Malgun Gothic"/>
              </a:rPr>
              <a:t>4월 중·하순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2880360"/>
            <a:ext cx="2542032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3192"/>
                </a:solidFill>
                <a:latin typeface="Malgun Gothic"/>
              </a:rPr>
              <a:t>점검하고 튼튼하게 정리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3886200"/>
            <a:ext cx="2542032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36E"/>
                </a:solidFill>
                <a:latin typeface="Malgun Gothic"/>
              </a:rPr>
              <a:t>보안 감사, 데이터 정규화, 개발 문서 전면 재편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8" y="269748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7C8A"/>
                </a:solidFill>
                <a:latin typeface="Malgun Gothic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1928" y="2011680"/>
            <a:ext cx="1051560" cy="384048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81928" y="2048256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A5B66"/>
                </a:solidFill>
                <a:latin typeface="Malgun Gothic"/>
              </a:rPr>
              <a:t>3단계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514600"/>
            <a:ext cx="25420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B8794"/>
                </a:solidFill>
                <a:latin typeface="Malgun Gothic"/>
              </a:rPr>
              <a:t>5월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880360"/>
            <a:ext cx="2542032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3192"/>
                </a:solidFill>
                <a:latin typeface="Malgun Gothic"/>
              </a:rPr>
              <a:t>현장 점검 자동화 + 디자인 통일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3886200"/>
            <a:ext cx="2542032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36E"/>
                </a:solidFill>
                <a:latin typeface="Malgun Gothic"/>
              </a:rPr>
              <a:t>QR·원격 점검 프로그램, 40여 화면 색 통일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2697480"/>
            <a:ext cx="2743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F7C8A"/>
                </a:solidFill>
                <a:latin typeface="Malgun Gothic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8551" y="2011680"/>
            <a:ext cx="1051560" cy="384048"/>
          </a:xfrm>
          <a:prstGeom prst="roundRect">
            <a:avLst/>
          </a:prstGeom>
          <a:solidFill>
            <a:srgbClr val="E3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88551" y="2048256"/>
            <a:ext cx="1051560" cy="310896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A5B66"/>
                </a:solidFill>
                <a:latin typeface="Malgun Gothic"/>
              </a:rPr>
              <a:t>4단계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1" y="2514600"/>
            <a:ext cx="2542032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B8794"/>
                </a:solidFill>
                <a:latin typeface="Malgun Gothic"/>
              </a:rPr>
              <a:t>6월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88551" y="2880360"/>
            <a:ext cx="2542032" cy="10058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E3192"/>
                </a:solidFill>
                <a:latin typeface="Malgun Gothic"/>
              </a:rPr>
              <a:t>실무에 맞춰 넓히다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1" y="3886200"/>
            <a:ext cx="2542032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5636E"/>
                </a:solidFill>
                <a:latin typeface="Malgun Gothic"/>
              </a:rPr>
              <a:t>업무지원·장애처리, 지식베이스, 사이드바·HTTPS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212080"/>
            <a:ext cx="10442448" cy="73152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321808"/>
            <a:ext cx="9966960" cy="5486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F2933"/>
                </a:solidFill>
                <a:latin typeface="Malgun Gothic"/>
              </a:rPr>
              <a:t>집을 짓듯 — </a:t>
            </a:r>
            <a:r>
              <a:rPr sz="1500" b="1">
                <a:solidFill>
                  <a:srgbClr val="0A5B66"/>
                </a:solidFill>
                <a:latin typeface="Malgun Gothic"/>
              </a:rPr>
              <a:t>① 방 늘리기 → ② 배관·전기 정비 → ③ 인테리어 통일 → ④ 가구 채우기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44652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B8794"/>
                </a:solidFill>
                <a:latin typeface="Malgun Gothic"/>
              </a:rPr>
              <a:t>SYSTEM INTRO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B8794"/>
                </a:solidFill>
                <a:latin typeface="Malgun Gothi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C8A"/>
                </a:solidFill>
                <a:latin typeface="Malgun Gothic"/>
              </a:rPr>
              <a:t>WORKLOAD · MONTHLY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686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3192"/>
                </a:solidFill>
                <a:latin typeface="Malgun Gothic"/>
              </a:rPr>
              <a:t>월별 작업량 &amp; 작업시간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7B8794"/>
                </a:solidFill>
                <a:latin typeface="Malgun Gothic"/>
              </a:rPr>
              <a:t>4월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19" y="2377440"/>
            <a:ext cx="4572000" cy="457200"/>
          </a:xfrm>
          <a:prstGeom prst="roundRect">
            <a:avLst/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45919" y="2377440"/>
            <a:ext cx="4572000" cy="457200"/>
          </a:xfrm>
          <a:prstGeom prst="round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19" y="2377440"/>
            <a:ext cx="4434840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65.5h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7B8794"/>
                </a:solidFill>
                <a:latin typeface="Malgun Gothic"/>
              </a:rPr>
              <a:t>5월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19" y="3154680"/>
            <a:ext cx="4572000" cy="457200"/>
          </a:xfrm>
          <a:prstGeom prst="roundRect">
            <a:avLst/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45919" y="3154680"/>
            <a:ext cx="4238244" cy="457200"/>
          </a:xfrm>
          <a:prstGeom prst="round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19" y="3154680"/>
            <a:ext cx="4101083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60.7h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640080" cy="4114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7B8794"/>
                </a:solidFill>
                <a:latin typeface="Malgun Gothic"/>
              </a:rPr>
              <a:t>6월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19" y="3931920"/>
            <a:ext cx="4572000" cy="457200"/>
          </a:xfrm>
          <a:prstGeom prst="roundRect">
            <a:avLst/>
          </a:prstGeom>
          <a:solidFill>
            <a:srgbClr val="EE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45919" y="3931920"/>
            <a:ext cx="3813048" cy="457200"/>
          </a:xfrm>
          <a:prstGeom prst="round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19" y="3931920"/>
            <a:ext cx="3675887" cy="4572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54.6h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26480" y="2331720"/>
          <a:ext cx="51206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960120"/>
                <a:gridCol w="960120"/>
                <a:gridCol w="1143000"/>
                <a:gridCol w="105156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월</a:t>
                      </a:r>
                    </a:p>
                  </a:txBody>
                  <a:tcPr marL="76200" marR="76200" marT="25400" marB="254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기록</a:t>
                      </a:r>
                    </a:p>
                  </a:txBody>
                  <a:tcPr marL="76200" marR="76200" marT="25400" marB="254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일수</a:t>
                      </a:r>
                    </a:p>
                  </a:txBody>
                  <a:tcPr marL="76200" marR="76200" marT="25400" marB="254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시간</a:t>
                      </a:r>
                    </a:p>
                  </a:txBody>
                  <a:tcPr marL="76200" marR="76200" marT="25400" marB="25400" anchor="ctr"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Malgun Gothic"/>
                        </a:rPr>
                        <a:t>평균</a:t>
                      </a:r>
                    </a:p>
                  </a:txBody>
                  <a:tcPr marL="76200" marR="76200" marT="25400" marB="25400" anchor="ctr">
                    <a:solidFill>
                      <a:srgbClr val="2E319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4월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104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65.5h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5.0h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5월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138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60.7h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3.4h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6월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93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54.6h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>
                          <a:solidFill>
                            <a:srgbClr val="1F2933"/>
                          </a:solidFill>
                          <a:latin typeface="Malgun Gothic"/>
                        </a:rPr>
                        <a:t>5.5h</a:t>
                      </a:r>
                    </a:p>
                  </a:txBody>
                  <a:tcPr marL="76200" marR="76200" marT="25400" marB="25400" anchor="ctr">
                    <a:solidFill>
                      <a:srgbClr val="FAFCF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A5B66"/>
                          </a:solidFill>
                          <a:latin typeface="Malgun Gothic"/>
                        </a:rPr>
                        <a:t>합계</a:t>
                      </a:r>
                    </a:p>
                  </a:txBody>
                  <a:tcPr marL="76200" marR="76200" marT="25400" marB="25400" anchor="ctr"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A5B66"/>
                          </a:solidFill>
                          <a:latin typeface="Malgun Gothic"/>
                        </a:rPr>
                        <a:t>335</a:t>
                      </a:r>
                    </a:p>
                  </a:txBody>
                  <a:tcPr marL="76200" marR="76200" marT="25400" marB="25400" anchor="ctr"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A5B66"/>
                          </a:solidFill>
                          <a:latin typeface="Malgun Gothic"/>
                        </a:rPr>
                        <a:t>41</a:t>
                      </a:r>
                    </a:p>
                  </a:txBody>
                  <a:tcPr marL="76200" marR="76200" marT="25400" marB="25400" anchor="ctr"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A5B66"/>
                          </a:solidFill>
                          <a:latin typeface="Malgun Gothic"/>
                        </a:rPr>
                        <a:t>180.8h</a:t>
                      </a:r>
                    </a:p>
                  </a:txBody>
                  <a:tcPr marL="76200" marR="76200" marT="25400" marB="25400" anchor="ctr">
                    <a:solidFill>
                      <a:srgbClr val="E3F2F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A5B66"/>
                          </a:solidFill>
                          <a:latin typeface="Malgun Gothic"/>
                        </a:rPr>
                        <a:t>4.4h</a:t>
                      </a:r>
                    </a:p>
                  </a:txBody>
                  <a:tcPr marL="76200" marR="76200" marT="25400" marB="25400" anchor="ctr">
                    <a:solidFill>
                      <a:srgbClr val="E3F2F4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7B8794"/>
                </a:solidFill>
                <a:latin typeface="Malgun Gothic"/>
              </a:rPr>
              <a:t>작업시간은 저장 기록(커밋) 시각 기반 </a:t>
            </a:r>
            <a:r>
              <a:rPr sz="1300" b="1">
                <a:solidFill>
                  <a:srgbClr val="0A5B66"/>
                </a:solidFill>
                <a:latin typeface="Malgun Gothic"/>
              </a:rPr>
              <a:t>추정치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— 간격 2시간 미만=연속작업, 묶음마다 +1h.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44652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B8794"/>
                </a:solidFill>
                <a:latin typeface="Malgun Gothic"/>
              </a:rPr>
              <a:t>SYSTEM INTRO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B8794"/>
                </a:solidFill>
                <a:latin typeface="Malgun Gothi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C8A"/>
                </a:solidFill>
                <a:latin typeface="Malgun Gothic"/>
              </a:rPr>
              <a:t>WORKLOAD · DAILY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686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3192"/>
                </a:solidFill>
                <a:latin typeface="Malgun Gothic"/>
              </a:rPr>
              <a:t>일별 작업시간 (41일)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3819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8959" y="4370831"/>
            <a:ext cx="218563" cy="932688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34099" y="3935577"/>
            <a:ext cx="218563" cy="1367942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89239" y="4339742"/>
            <a:ext cx="218563" cy="96377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44379" y="3158337"/>
            <a:ext cx="218563" cy="2145182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99519" y="4122115"/>
            <a:ext cx="218563" cy="1181404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4659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09799" y="3966667"/>
            <a:ext cx="218563" cy="1336852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64939" y="4028846"/>
            <a:ext cx="218563" cy="1274673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0079" y="3531412"/>
            <a:ext cx="218563" cy="177210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75218" y="3873398"/>
            <a:ext cx="218563" cy="1430121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0358" y="4308652"/>
            <a:ext cx="218563" cy="99486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85498" y="4868265"/>
            <a:ext cx="218563" cy="435254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40638" y="4837176"/>
            <a:ext cx="218563" cy="466344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5778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50918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06058" y="4433011"/>
            <a:ext cx="218563" cy="870508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61198" y="4868265"/>
            <a:ext cx="218563" cy="435254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6338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71478" y="4774996"/>
            <a:ext cx="218563" cy="528523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6617" y="4215383"/>
            <a:ext cx="218563" cy="1088136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81757" y="3158337"/>
            <a:ext cx="218563" cy="2145182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36897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92037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47177" y="4308652"/>
            <a:ext cx="218563" cy="99486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02317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57457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12597" y="4712817"/>
            <a:ext cx="218563" cy="590702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67737" y="4433011"/>
            <a:ext cx="218563" cy="870508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22877" y="2194560"/>
            <a:ext cx="218563" cy="3108960"/>
          </a:xfrm>
          <a:prstGeom prst="rect">
            <a:avLst/>
          </a:prstGeom>
          <a:gradFill>
            <a:gsLst>
              <a:gs pos="0">
                <a:srgbClr val="D9A441"/>
              </a:gs>
              <a:gs pos="100000">
                <a:srgbClr val="C0532B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016" y="4246473"/>
            <a:ext cx="218563" cy="1057046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33156" y="3344875"/>
            <a:ext cx="218563" cy="1958644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88296" y="5085892"/>
            <a:ext cx="218563" cy="217627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3436" y="3686860"/>
            <a:ext cx="218563" cy="1616659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98576" y="4277563"/>
            <a:ext cx="218563" cy="1025956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53716" y="3344875"/>
            <a:ext cx="218563" cy="1958644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308856" y="3966667"/>
            <a:ext cx="218563" cy="1336852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63996" y="4961534"/>
            <a:ext cx="218563" cy="341985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19136" y="3935577"/>
            <a:ext cx="218563" cy="1367942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74276" y="4433011"/>
            <a:ext cx="218563" cy="870508"/>
          </a:xfrm>
          <a:prstGeom prst="rect">
            <a:avLst/>
          </a:prstGeom>
          <a:gradFill>
            <a:gsLst>
              <a:gs pos="0">
                <a:srgbClr val="0F7C8A"/>
              </a:gs>
              <a:gs pos="100000">
                <a:srgbClr val="2E319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8680" y="5303520"/>
            <a:ext cx="10424160" cy="18288"/>
          </a:xfrm>
          <a:prstGeom prst="rect">
            <a:avLst/>
          </a:prstGeom>
          <a:solidFill>
            <a:srgbClr val="D8E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19" y="5376672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B8794"/>
                </a:solidFill>
                <a:latin typeface="Malgun Gothic"/>
              </a:rPr>
              <a:t>4/3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17443" y="5376672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B8794"/>
                </a:solidFill>
                <a:latin typeface="Malgun Gothic"/>
              </a:rPr>
              <a:t>4/26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5376672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B8794"/>
                </a:solidFill>
                <a:latin typeface="Malgun Gothic"/>
              </a:rPr>
              <a:t>5/17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2556" y="5376672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B8794"/>
                </a:solidFill>
                <a:latin typeface="Malgun Gothic"/>
              </a:rPr>
              <a:t>5/31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84663" y="5376672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B8794"/>
                </a:solidFill>
                <a:latin typeface="Malgun Gothic"/>
              </a:rPr>
              <a:t>6/11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27080" y="5376672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B8794"/>
                </a:solidFill>
                <a:latin typeface="Malgun Gothic"/>
              </a:rPr>
              <a:t>6/17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" y="5806440"/>
            <a:ext cx="104241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5636E"/>
                </a:solidFill>
                <a:latin typeface="Malgun Gothic"/>
              </a:rPr>
              <a:t>최장일 </a:t>
            </a:r>
            <a:r>
              <a:rPr sz="1400" b="1">
                <a:solidFill>
                  <a:srgbClr val="0A5B66"/>
                </a:solidFill>
                <a:latin typeface="Malgun Gothic"/>
              </a:rPr>
              <a:t>5/31 ≈14.5h(52건)</a:t>
            </a:r>
            <a:r>
              <a:rPr sz="1400" b="0">
                <a:solidFill>
                  <a:srgbClr val="55636E"/>
                </a:solidFill>
                <a:latin typeface="Malgun Gothic"/>
              </a:rPr>
              <a:t> — 화면 40여 개 디자인 일괄 통일. 다음 </a:t>
            </a:r>
            <a:r>
              <a:rPr sz="1400" b="1">
                <a:solidFill>
                  <a:srgbClr val="0A5B66"/>
                </a:solidFill>
                <a:latin typeface="Malgun Gothic"/>
              </a:rPr>
              <a:t>4/19·5/17 ≈10h</a:t>
            </a:r>
            <a:r>
              <a:rPr sz="1400" b="0">
                <a:solidFill>
                  <a:srgbClr val="55636E"/>
                </a:solidFill>
                <a:latin typeface="Malgun Gothic"/>
              </a:rPr>
              <a:t>. 주말·심야 작업이 많았습니다.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644652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B8794"/>
                </a:solidFill>
                <a:latin typeface="Malgun Gothic"/>
              </a:rPr>
              <a:t>SYSTEM INTRO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B8794"/>
                </a:solidFill>
                <a:latin typeface="Malgun Gothi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C8A"/>
                </a:solidFill>
                <a:latin typeface="Malgun Gothic"/>
              </a:rPr>
              <a:t>DEEP DIVE · APR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686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3192"/>
                </a:solidFill>
                <a:latin typeface="Malgun Gothic"/>
              </a:rPr>
              <a:t>4월 — 채우고, 다지다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5074920" cy="301752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2130552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A5B66"/>
                </a:solidFill>
                <a:latin typeface="Malgun Gothic"/>
              </a:rPr>
              <a:t>① 기능을 빠르게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743200"/>
            <a:ext cx="4434840" cy="20116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1">
                <a:solidFill>
                  <a:srgbClr val="1F2933"/>
                </a:solidFill>
                <a:latin typeface="Malgun Gothic"/>
              </a:rPr>
              <a:t>문서·견적·점검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대규모 확장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1">
                <a:solidFill>
                  <a:srgbClr val="1F2933"/>
                </a:solidFill>
                <a:latin typeface="Malgun Gothic"/>
              </a:rPr>
              <a:t>태블릿 대응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현장 갤럭시탭 세로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0">
                <a:solidFill>
                  <a:srgbClr val="1F2933"/>
                </a:solidFill>
                <a:latin typeface="Malgun Gothic"/>
              </a:rPr>
              <a:t>팀 진행율 대시보드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74519"/>
            <a:ext cx="5074920" cy="301752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2130552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A5B66"/>
                </a:solidFill>
                <a:latin typeface="Malgun Gothic"/>
              </a:rPr>
              <a:t>② 점검하고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743200"/>
            <a:ext cx="4434840" cy="20116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1">
                <a:solidFill>
                  <a:srgbClr val="1F2933"/>
                </a:solidFill>
                <a:latin typeface="Malgun Gothic"/>
              </a:rPr>
              <a:t>보안 감사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codex 기반 조치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1">
                <a:solidFill>
                  <a:srgbClr val="1F2933"/>
                </a:solidFill>
                <a:latin typeface="Malgun Gothic"/>
              </a:rPr>
              <a:t>데이터 정규화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중복 제거·표준화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0">
                <a:solidFill>
                  <a:srgbClr val="1F2933"/>
                </a:solidFill>
                <a:latin typeface="Malgun Gothic"/>
              </a:rPr>
              <a:t>개발 문서 전면 재편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212080"/>
            <a:ext cx="64008" cy="777240"/>
          </a:xfrm>
          <a:prstGeom prst="rect">
            <a:avLst/>
          </a:prstGeom>
          <a:solidFill>
            <a:srgbClr val="0F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230368"/>
            <a:ext cx="10058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E3192"/>
                </a:solidFill>
                <a:latin typeface="Malgun Gothic"/>
              </a:rPr>
              <a:t>“기능을 늘린 뒤, 바로 안전성과 구조를 점검했다.”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44652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B8794"/>
                </a:solidFill>
                <a:latin typeface="Malgun Gothic"/>
              </a:rPr>
              <a:t>SYSTEM INTRO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B8794"/>
                </a:solidFill>
                <a:latin typeface="Malgun Gothi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C8A"/>
                </a:solidFill>
                <a:latin typeface="Malgun Gothic"/>
              </a:rPr>
              <a:t>DEEP DIVE · MAY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686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3192"/>
                </a:solidFill>
                <a:latin typeface="Malgun Gothic"/>
              </a:rPr>
              <a:t>5월 — 자동화와 통일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5074920" cy="301752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19" y="2130552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A5B66"/>
                </a:solidFill>
                <a:latin typeface="Malgun Gothic"/>
              </a:rPr>
              <a:t>🤖 현장 점검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743200"/>
            <a:ext cx="4434840" cy="20116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1">
                <a:solidFill>
                  <a:srgbClr val="1F2933"/>
                </a:solidFill>
                <a:latin typeface="Malgun Gothic"/>
              </a:rPr>
              <a:t>QR 반출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폐쇄망 결과 반출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1">
                <a:solidFill>
                  <a:srgbClr val="1F2933"/>
                </a:solidFill>
                <a:latin typeface="Malgun Gothic"/>
              </a:rPr>
              <a:t>원격 점검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Telnet·SSH, 구형 서버 호환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1">
                <a:solidFill>
                  <a:srgbClr val="1F2933"/>
                </a:solidFill>
                <a:latin typeface="Malgun Gothic"/>
              </a:rPr>
              <a:t>점검표 자동 생성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수집값→양식+그래프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874519"/>
            <a:ext cx="5074920" cy="301752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2130552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A5B66"/>
                </a:solidFill>
                <a:latin typeface="Malgun Gothic"/>
              </a:rPr>
              <a:t>🎨 디자인 전면 통일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743200"/>
            <a:ext cx="4434840" cy="201167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1">
                <a:solidFill>
                  <a:srgbClr val="1F2933"/>
                </a:solidFill>
                <a:latin typeface="Malgun Gothic"/>
              </a:rPr>
              <a:t>색 기준표(토큰)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도입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1">
                <a:solidFill>
                  <a:srgbClr val="1F2933"/>
                </a:solidFill>
                <a:latin typeface="Malgun Gothic"/>
              </a:rPr>
              <a:t>40여 화면 일괄 정비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5/31 하루 52건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600" b="0">
                <a:solidFill>
                  <a:srgbClr val="1F2933"/>
                </a:solidFill>
                <a:latin typeface="Malgun Gothic"/>
              </a:rPr>
              <a:t>브랜드 색으로 통일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212080"/>
            <a:ext cx="64008" cy="777240"/>
          </a:xfrm>
          <a:prstGeom prst="rect">
            <a:avLst/>
          </a:prstGeom>
          <a:solidFill>
            <a:srgbClr val="0F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230368"/>
            <a:ext cx="10058400" cy="77724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E3192"/>
                </a:solidFill>
                <a:latin typeface="Malgun Gothic"/>
              </a:rPr>
              <a:t>“손이 많이 가던 현장 점검을, 현장에 두는 작은 프로그램이 대신하게.”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44652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B8794"/>
                </a:solidFill>
                <a:latin typeface="Malgun Gothic"/>
              </a:rPr>
              <a:t>SYSTEM INTRO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B8794"/>
                </a:solidFill>
                <a:latin typeface="Malgun Gothi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C8A"/>
                </a:solidFill>
                <a:latin typeface="Malgun Gothic"/>
              </a:rPr>
              <a:t>DEEP DIVE · JUN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686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3192"/>
                </a:solidFill>
                <a:latin typeface="Malgun Gothic"/>
              </a:rPr>
              <a:t>6월 — 실무에 맞춰 넓히다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0515600" cy="3108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•  </a:t>
            </a:r>
            <a:r>
              <a:rPr sz="1800" b="1">
                <a:solidFill>
                  <a:srgbClr val="0A5B66"/>
                </a:solidFill>
                <a:latin typeface="Malgun Gothic"/>
              </a:rPr>
              <a:t>서류 편의 — </a:t>
            </a:r>
            <a:r>
              <a:rPr sz="1600" b="0">
                <a:solidFill>
                  <a:srgbClr val="33424E"/>
                </a:solidFill>
                <a:latin typeface="Malgun Gothic"/>
              </a:rPr>
              <a:t>날인본 스캔 보관 · 공문 서식 보정 · 검색결과 일괄 ZIP 다운로드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•  </a:t>
            </a:r>
            <a:r>
              <a:rPr sz="1800" b="1">
                <a:solidFill>
                  <a:srgbClr val="0A5B66"/>
                </a:solidFill>
                <a:latin typeface="Malgun Gothic"/>
              </a:rPr>
              <a:t>화면 구조 개편 — </a:t>
            </a:r>
            <a:r>
              <a:rPr sz="1600" b="0">
                <a:solidFill>
                  <a:srgbClr val="33424E"/>
                </a:solidFill>
                <a:latin typeface="Malgun Gothic"/>
              </a:rPr>
              <a:t>상단 메뉴를 왼쪽 사이드바로 + 모바일 반응형, 대시보드를 메인으로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•  </a:t>
            </a:r>
            <a:r>
              <a:rPr sz="1800" b="1">
                <a:solidFill>
                  <a:srgbClr val="0A5B66"/>
                </a:solidFill>
                <a:latin typeface="Malgun Gothic"/>
              </a:rPr>
              <a:t>업무계획 캐스케이드 — </a:t>
            </a:r>
            <a:r>
              <a:rPr sz="1600" b="0">
                <a:solidFill>
                  <a:srgbClr val="33424E"/>
                </a:solidFill>
                <a:latin typeface="Malgun Gothic"/>
              </a:rPr>
              <a:t>시·도 → 시·군·구 → 시스템으로 이어 선택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•  </a:t>
            </a:r>
            <a:r>
              <a:rPr sz="1800" b="1">
                <a:solidFill>
                  <a:srgbClr val="0A5B66"/>
                </a:solidFill>
                <a:latin typeface="Malgun Gothic"/>
              </a:rPr>
              <a:t>장애처리·업무지원 개편 — </a:t>
            </a:r>
            <a:r>
              <a:rPr sz="1600" b="0">
                <a:solidFill>
                  <a:srgbClr val="33424E"/>
                </a:solidFill>
                <a:latin typeface="Malgun Gothic"/>
              </a:rPr>
              <a:t>직원 85명 조직도 · 엔지니어/요청자 · 지식베이스 추천(증상→원인→조치)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•  </a:t>
            </a:r>
            <a:r>
              <a:rPr sz="1800" b="1">
                <a:solidFill>
                  <a:srgbClr val="0A5B66"/>
                </a:solidFill>
                <a:latin typeface="Malgun Gothic"/>
              </a:rPr>
              <a:t>로그·운영문서 정리 — </a:t>
            </a:r>
            <a:r>
              <a:rPr sz="1600" b="0">
                <a:solidFill>
                  <a:srgbClr val="33424E"/>
                </a:solidFill>
                <a:latin typeface="Malgun Gothic"/>
              </a:rPr>
              <a:t>통계 추가, 상세·수정·삭제 흐름 정돈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440680"/>
            <a:ext cx="64008" cy="731520"/>
          </a:xfrm>
          <a:prstGeom prst="rect">
            <a:avLst/>
          </a:prstGeom>
          <a:solidFill>
            <a:srgbClr val="0F7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458968"/>
            <a:ext cx="10058400" cy="7315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E3192"/>
                </a:solidFill>
                <a:latin typeface="Malgun Gothic"/>
              </a:rPr>
              <a:t>“실제로 살아보며 불편을 없애는 단계 — 가구를 채워 넣다.”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B8794"/>
                </a:solidFill>
                <a:latin typeface="Malgun Gothic"/>
              </a:rPr>
              <a:t>SYSTEM INTRO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B8794"/>
                </a:solidFill>
                <a:latin typeface="Malgun Gothi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" cy="6858000"/>
          </a:xfrm>
          <a:prstGeom prst="rect">
            <a:avLst/>
          </a:prstGeom>
          <a:gradFill>
            <a:gsLst>
              <a:gs pos="0">
                <a:srgbClr val="2E3192"/>
              </a:gs>
              <a:gs pos="100000">
                <a:srgbClr val="0F7C8A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F7C8A"/>
                </a:solidFill>
                <a:latin typeface="Malgun Gothic"/>
              </a:rPr>
              <a:t>HOW WE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868680"/>
            <a:ext cx="1060704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2E3192"/>
                </a:solidFill>
                <a:latin typeface="Malgun Gothic"/>
              </a:rPr>
              <a:t>일하는 방식 — 검토를 거쳐 안전하게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7B8794"/>
                </a:solidFill>
                <a:latin typeface="Malgun Gothic"/>
              </a:rPr>
              <a:t>바로 만들지 않고, 계획→검토→승인→구현→검증을 거쳤습니다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749808" cy="566928"/>
          </a:xfrm>
          <a:prstGeom prst="roundRect">
            <a:avLst/>
          </a:prstGeom>
          <a:solidFill>
            <a:srgbClr val="E3F2F4"/>
          </a:solidFill>
          <a:ln w="9525">
            <a:solidFill>
              <a:srgbClr val="C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67128"/>
            <a:ext cx="749808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5B66"/>
                </a:solidFill>
                <a:latin typeface="Malgun Gothic"/>
              </a:rPr>
              <a:t>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2194560"/>
            <a:ext cx="384048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02536" y="2148840"/>
            <a:ext cx="873252" cy="566928"/>
          </a:xfrm>
          <a:prstGeom prst="roundRect">
            <a:avLst/>
          </a:prstGeom>
          <a:solidFill>
            <a:srgbClr val="E3F2F4"/>
          </a:solidFill>
          <a:ln w="9525">
            <a:solidFill>
              <a:srgbClr val="C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02536" y="2167128"/>
            <a:ext cx="873252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5B66"/>
                </a:solidFill>
                <a:latin typeface="Malgun Gothic"/>
              </a:rPr>
              <a:t>기획서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5788" y="2194560"/>
            <a:ext cx="384048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59836" y="2148840"/>
            <a:ext cx="1984248" cy="566928"/>
          </a:xfrm>
          <a:prstGeom prst="roundRect">
            <a:avLst/>
          </a:prstGeom>
          <a:solidFill>
            <a:srgbClr val="E3F2F4"/>
          </a:solidFill>
          <a:ln w="9525">
            <a:solidFill>
              <a:srgbClr val="C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9836" y="2167128"/>
            <a:ext cx="1984248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5B66"/>
                </a:solidFill>
                <a:latin typeface="Malgun Gothic"/>
              </a:rPr>
              <a:t>AI(codex) 검토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4083" y="2194560"/>
            <a:ext cx="384048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8131" y="2148840"/>
            <a:ext cx="1120140" cy="566928"/>
          </a:xfrm>
          <a:prstGeom prst="roundRect">
            <a:avLst/>
          </a:prstGeom>
          <a:solidFill>
            <a:srgbClr val="2E3192"/>
          </a:solidFill>
          <a:ln w="9525">
            <a:solidFill>
              <a:srgbClr val="2E31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8131" y="2167128"/>
            <a:ext cx="112014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사람 승인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1" y="2194560"/>
            <a:ext cx="384048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19" y="2148840"/>
            <a:ext cx="749808" cy="566928"/>
          </a:xfrm>
          <a:prstGeom prst="roundRect">
            <a:avLst/>
          </a:prstGeom>
          <a:solidFill>
            <a:srgbClr val="E3F2F4"/>
          </a:solidFill>
          <a:ln w="9525">
            <a:solidFill>
              <a:srgbClr val="C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19" y="2167128"/>
            <a:ext cx="749808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5B66"/>
                </a:solidFill>
                <a:latin typeface="Malgun Gothic"/>
              </a:rPr>
              <a:t>구현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2194560"/>
            <a:ext cx="384048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6175" y="2148840"/>
            <a:ext cx="1120140" cy="566928"/>
          </a:xfrm>
          <a:prstGeom prst="roundRect">
            <a:avLst/>
          </a:prstGeom>
          <a:solidFill>
            <a:srgbClr val="E3F2F4"/>
          </a:solidFill>
          <a:ln w="9525">
            <a:solidFill>
              <a:srgbClr val="C5D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6175" y="2167128"/>
            <a:ext cx="1120140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A5B66"/>
                </a:solidFill>
                <a:latin typeface="Malgun Gothic"/>
              </a:rPr>
              <a:t>AI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6315" y="2194560"/>
            <a:ext cx="384048" cy="50292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F7C8A"/>
                </a:solidFill>
                <a:latin typeface="Malgun Gothic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70363" y="2148840"/>
            <a:ext cx="749808" cy="566928"/>
          </a:xfrm>
          <a:prstGeom prst="roundRect">
            <a:avLst/>
          </a:prstGeom>
          <a:solidFill>
            <a:srgbClr val="2E3192"/>
          </a:solidFill>
          <a:ln w="9525">
            <a:solidFill>
              <a:srgbClr val="2E31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70363" y="2167128"/>
            <a:ext cx="749808" cy="530352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완료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3246120"/>
            <a:ext cx="5074920" cy="210312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19" y="347472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A5B66"/>
                </a:solidFill>
                <a:latin typeface="Malgun Gothic"/>
              </a:rPr>
              <a:t>가상 팀 체계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19" y="4069080"/>
            <a:ext cx="4434840" cy="118871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F2933"/>
                </a:solidFill>
                <a:latin typeface="Malgun Gothic"/>
              </a:rPr>
              <a:t>기획·DB·디자인·개발·테스트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5역할 분담 점검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F2933"/>
                </a:solidFill>
                <a:latin typeface="Malgun Gothic"/>
              </a:rPr>
              <a:t>화면 변경 시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디자인 자문 필수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3246120"/>
            <a:ext cx="5074920" cy="2103120"/>
          </a:xfrm>
          <a:prstGeom prst="roundRect">
            <a:avLst/>
          </a:prstGeom>
          <a:solidFill>
            <a:srgbClr val="FAFCFC"/>
          </a:solidFill>
          <a:ln w="9525">
            <a:solidFill>
              <a:srgbClr val="D8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6248" y="3474720"/>
            <a:ext cx="44348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0A5B66"/>
                </a:solidFill>
                <a:latin typeface="Malgun Gothic"/>
              </a:rPr>
              <a:t>“안 하기로 한 결정”도 기록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56248" y="4069080"/>
            <a:ext cx="4434840" cy="1188719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F2933"/>
                </a:solidFill>
                <a:latin typeface="Malgun Gothic"/>
              </a:rPr>
              <a:t>계약서 PDF 파싱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만들었다가 취소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F7C8A"/>
                </a:solidFill>
                <a:latin typeface="Malgun Gothic"/>
              </a:rPr>
              <a:t>• </a:t>
            </a:r>
            <a:r>
              <a:rPr sz="1500" b="1">
                <a:solidFill>
                  <a:srgbClr val="1F2933"/>
                </a:solidFill>
                <a:latin typeface="Malgun Gothic"/>
              </a:rPr>
              <a:t>일부 보안 작업</a:t>
            </a:r>
            <a:r>
              <a:rPr sz="1300" b="0">
                <a:solidFill>
                  <a:srgbClr val="7B8794"/>
                </a:solidFill>
                <a:latin typeface="Malgun Gothic"/>
              </a:rPr>
              <a:t>  의도적 보류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6446520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7B8794"/>
                </a:solidFill>
                <a:latin typeface="Malgun Gothic"/>
              </a:rPr>
              <a:t>SYSTEM INTRO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7B8794"/>
                </a:solidFill>
                <a:latin typeface="Malgun Gothi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5B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A5B66"/>
              </a:gs>
              <a:gs pos="100000">
                <a:srgbClr val="2E3192"/>
              </a:gs>
            </a:gsLst>
            <a:lin ang="36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7160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FD8EC"/>
                </a:solidFill>
                <a:latin typeface="Malgun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algun Gothic"/>
              </a:rPr>
              <a:t>단순 사업 목록에서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Malgun Gothic"/>
              </a:rPr>
              <a:t>부서의 통합 업무 플랫폼으로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1033272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6EEF2"/>
                </a:solidFill>
                <a:latin typeface="Malgun Gothic"/>
              </a:rPr>
              <a:t>41일 · 약 181시간 · 335번의 저장이 쌓여 —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E6EEF2"/>
                </a:solidFill>
                <a:latin typeface="Malgun Gothic"/>
              </a:rPr>
              <a:t>문서 자동화 · 점검 자동화 · 견적 · 장애/업무지원 · 지식베이스 · 통일된 디자인을 갖췄습니다.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37760"/>
            <a:ext cx="1033272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FD8EC"/>
                </a:solidFill>
                <a:latin typeface="Malgun Gothic"/>
              </a:rPr>
              <a:t>무엇보다, 모든 과정이 </a:t>
            </a:r>
            <a:r>
              <a:rPr sz="1600" b="1">
                <a:solidFill>
                  <a:srgbClr val="FFFFFF"/>
                </a:solidFill>
                <a:latin typeface="Malgun Gothic"/>
              </a:rPr>
              <a:t>계획→검토→승인→구현→검증</a:t>
            </a:r>
            <a:r>
              <a:rPr sz="1600" b="0">
                <a:solidFill>
                  <a:srgbClr val="CFD8EC"/>
                </a:solidFill>
                <a:latin typeface="Malgun Gothic"/>
              </a:rPr>
              <a:t>으로 기록되어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FD8EC"/>
                </a:solidFill>
                <a:latin typeface="Malgun Gothic"/>
              </a:rPr>
              <a:t>앞으로도 안전하게 이어갈 수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2636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3DCE6"/>
                </a:solidFill>
                <a:latin typeface="Malgun Gothic"/>
              </a:rPr>
              <a:t>SW 사업관리 시스템 · 개발 히스토리 · 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